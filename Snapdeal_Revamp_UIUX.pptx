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Bold" charset="1" panose="02040802050405020203"/>
      <p:regular r:id="rId16"/>
    </p:embeddedFont>
    <p:embeddedFont>
      <p:font typeface="Georgia Italics" charset="1" panose="02040502050405090303"/>
      <p:regular r:id="rId17"/>
    </p:embeddedFont>
    <p:embeddedFont>
      <p:font typeface="Calibri (MS)" charset="1" panose="020F0502020204030204"/>
      <p:regular r:id="rId18"/>
    </p:embeddedFont>
    <p:embeddedFont>
      <p:font typeface="Canva Sans" charset="1" panose="020B0503030501040103"/>
      <p:regular r:id="rId19"/>
    </p:embeddedFont>
    <p:embeddedFont>
      <p:font typeface="Calibri (MS) Bold" charset="1" panose="020F0702030404030204"/>
      <p:regular r:id="rId20"/>
    </p:embeddedFont>
    <p:embeddedFont>
      <p:font typeface="Calibri (MS) Italics" charset="1" panose="020F05020202040A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4567337"/>
            <a:ext cx="9144000" cy="1554480"/>
            <a:chOff x="0" y="0"/>
            <a:chExt cx="12192000" cy="2072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17" r="0" b="-6461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219200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snap</a:t>
              </a:r>
              <a:r>
                <a:rPr lang="en-US" sz="8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6121817"/>
            <a:ext cx="11887200" cy="1005840"/>
            <a:chOff x="0" y="0"/>
            <a:chExt cx="15849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277" r="0" b="-1802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584960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i="true">
                  <a:solidFill>
                    <a:srgbClr val="FCF6F5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UI/UX Revamp Proposal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6931979"/>
            <a:ext cx="10607040" cy="914400"/>
            <a:chOff x="0" y="0"/>
            <a:chExt cx="1414272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1427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comprehensive analysis of usability problems and a redesigned experience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7846379"/>
            <a:ext cx="6426203" cy="47625"/>
            <a:chOff x="0" y="0"/>
            <a:chExt cx="8568271" cy="6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0022"/>
              <a:ext cx="8534400" cy="43403"/>
            </a:xfrm>
            <a:custGeom>
              <a:avLst/>
              <a:gdLst/>
              <a:ahLst/>
              <a:cxnLst/>
              <a:rect r="r" b="b" t="t" l="l"/>
              <a:pathLst>
                <a:path h="43403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43403"/>
                  </a:lnTo>
                  <a:lnTo>
                    <a:pt x="0" y="43403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68182" cy="63449"/>
            </a:xfrm>
            <a:custGeom>
              <a:avLst/>
              <a:gdLst/>
              <a:ahLst/>
              <a:cxnLst/>
              <a:rect r="r" b="b" t="t" l="l"/>
              <a:pathLst>
                <a:path h="63449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4521"/>
                    <a:pt x="8568182" y="10022"/>
                  </a:cubicBezTo>
                  <a:lnTo>
                    <a:pt x="8568182" y="53425"/>
                  </a:lnTo>
                  <a:cubicBezTo>
                    <a:pt x="8568182" y="59001"/>
                    <a:pt x="8560562" y="63447"/>
                    <a:pt x="8551291" y="63447"/>
                  </a:cubicBezTo>
                  <a:lnTo>
                    <a:pt x="16891" y="63447"/>
                  </a:lnTo>
                  <a:cubicBezTo>
                    <a:pt x="7620" y="63538"/>
                    <a:pt x="0" y="59001"/>
                    <a:pt x="0" y="53425"/>
                  </a:cubicBezTo>
                  <a:lnTo>
                    <a:pt x="0" y="10022"/>
                  </a:lnTo>
                  <a:cubicBezTo>
                    <a:pt x="0" y="4521"/>
                    <a:pt x="7620" y="0"/>
                    <a:pt x="16891" y="0"/>
                  </a:cubicBezTo>
                  <a:moveTo>
                    <a:pt x="16891" y="20119"/>
                  </a:moveTo>
                  <a:lnTo>
                    <a:pt x="16891" y="10022"/>
                  </a:lnTo>
                  <a:lnTo>
                    <a:pt x="33909" y="10022"/>
                  </a:lnTo>
                  <a:lnTo>
                    <a:pt x="33909" y="53425"/>
                  </a:lnTo>
                  <a:lnTo>
                    <a:pt x="16891" y="53425"/>
                  </a:lnTo>
                  <a:lnTo>
                    <a:pt x="16891" y="43403"/>
                  </a:lnTo>
                  <a:lnTo>
                    <a:pt x="8551291" y="43403"/>
                  </a:lnTo>
                  <a:lnTo>
                    <a:pt x="8551291" y="53425"/>
                  </a:lnTo>
                  <a:lnTo>
                    <a:pt x="8534400" y="53425"/>
                  </a:lnTo>
                  <a:lnTo>
                    <a:pt x="8534400" y="10022"/>
                  </a:lnTo>
                  <a:lnTo>
                    <a:pt x="8551291" y="10022"/>
                  </a:lnTo>
                  <a:lnTo>
                    <a:pt x="8551291" y="20119"/>
                  </a:lnTo>
                  <a:lnTo>
                    <a:pt x="16891" y="2011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9509760"/>
            <a:ext cx="16642080" cy="512064"/>
            <a:chOff x="0" y="0"/>
            <a:chExt cx="221894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682752"/>
            </a:xfrm>
            <a:custGeom>
              <a:avLst/>
              <a:gdLst/>
              <a:ahLst/>
              <a:cxnLst/>
              <a:rect r="r" b="b" t="t" l="l"/>
              <a:pathLst>
                <a:path h="682752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263" r="0" b="-5832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189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599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E-COMMERCE  ·  UNICORN STARTUP  ·  UI/UX REDESIGN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1950787" y="3777209"/>
            <a:ext cx="5532512" cy="5327192"/>
            <a:chOff x="0" y="0"/>
            <a:chExt cx="7091790" cy="68286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9422" y="24715"/>
              <a:ext cx="7072896" cy="6779042"/>
            </a:xfrm>
            <a:custGeom>
              <a:avLst/>
              <a:gdLst/>
              <a:ahLst/>
              <a:cxnLst/>
              <a:rect r="r" b="b" t="t" l="l"/>
              <a:pathLst>
                <a:path h="6779042" w="7072896">
                  <a:moveTo>
                    <a:pt x="0" y="0"/>
                  </a:moveTo>
                  <a:lnTo>
                    <a:pt x="7072896" y="0"/>
                  </a:lnTo>
                  <a:lnTo>
                    <a:pt x="7072896" y="6779043"/>
                  </a:lnTo>
                  <a:lnTo>
                    <a:pt x="0" y="6779043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91740" cy="6828473"/>
            </a:xfrm>
            <a:custGeom>
              <a:avLst/>
              <a:gdLst/>
              <a:ahLst/>
              <a:cxnLst/>
              <a:rect r="r" b="b" t="t" l="l"/>
              <a:pathLst>
                <a:path h="6828473" w="7091740">
                  <a:moveTo>
                    <a:pt x="9422" y="0"/>
                  </a:moveTo>
                  <a:lnTo>
                    <a:pt x="7082318" y="0"/>
                  </a:lnTo>
                  <a:cubicBezTo>
                    <a:pt x="7087560" y="0"/>
                    <a:pt x="7091740" y="11150"/>
                    <a:pt x="7091740" y="24715"/>
                  </a:cubicBezTo>
                  <a:lnTo>
                    <a:pt x="7091740" y="6803758"/>
                  </a:lnTo>
                  <a:cubicBezTo>
                    <a:pt x="7091740" y="6817509"/>
                    <a:pt x="7087490" y="6828473"/>
                    <a:pt x="7082318" y="6828473"/>
                  </a:cubicBezTo>
                  <a:lnTo>
                    <a:pt x="9422" y="6828473"/>
                  </a:lnTo>
                  <a:cubicBezTo>
                    <a:pt x="4180" y="6828473"/>
                    <a:pt x="0" y="6817323"/>
                    <a:pt x="0" y="6803758"/>
                  </a:cubicBezTo>
                  <a:lnTo>
                    <a:pt x="0" y="24715"/>
                  </a:lnTo>
                  <a:cubicBezTo>
                    <a:pt x="0" y="11150"/>
                    <a:pt x="4251" y="0"/>
                    <a:pt x="9422" y="0"/>
                  </a:cubicBezTo>
                  <a:moveTo>
                    <a:pt x="9422" y="49616"/>
                  </a:moveTo>
                  <a:lnTo>
                    <a:pt x="9422" y="24715"/>
                  </a:lnTo>
                  <a:lnTo>
                    <a:pt x="18915" y="24715"/>
                  </a:lnTo>
                  <a:lnTo>
                    <a:pt x="18915" y="6803758"/>
                  </a:lnTo>
                  <a:lnTo>
                    <a:pt x="9422" y="6803758"/>
                  </a:lnTo>
                  <a:lnTo>
                    <a:pt x="9422" y="6779043"/>
                  </a:lnTo>
                  <a:lnTo>
                    <a:pt x="7082318" y="6779043"/>
                  </a:lnTo>
                  <a:lnTo>
                    <a:pt x="7082318" y="6803758"/>
                  </a:lnTo>
                  <a:lnTo>
                    <a:pt x="7072896" y="6803758"/>
                  </a:lnTo>
                  <a:lnTo>
                    <a:pt x="7072896" y="24715"/>
                  </a:lnTo>
                  <a:lnTo>
                    <a:pt x="7082318" y="24715"/>
                  </a:lnTo>
                  <a:lnTo>
                    <a:pt x="7082318" y="49616"/>
                  </a:lnTo>
                  <a:lnTo>
                    <a:pt x="9422" y="49616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399328"/>
            <a:ext cx="11351825" cy="2972522"/>
            <a:chOff x="0" y="0"/>
            <a:chExt cx="1643308" cy="4303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3308" cy="430307"/>
            </a:xfrm>
            <a:custGeom>
              <a:avLst/>
              <a:gdLst/>
              <a:ahLst/>
              <a:cxnLst/>
              <a:rect r="r" b="b" t="t" l="l"/>
              <a:pathLst>
                <a:path h="430307" w="1643308">
                  <a:moveTo>
                    <a:pt x="0" y="0"/>
                  </a:moveTo>
                  <a:lnTo>
                    <a:pt x="1643308" y="0"/>
                  </a:lnTo>
                  <a:lnTo>
                    <a:pt x="1643308" y="430307"/>
                  </a:lnTo>
                  <a:lnTo>
                    <a:pt x="0" y="430307"/>
                  </a:lnTo>
                  <a:close/>
                </a:path>
              </a:pathLst>
            </a:custGeom>
            <a:blipFill>
              <a:blip r:embed="rId3"/>
              <a:stretch>
                <a:fillRect l="0" t="-1612" r="0" b="-161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174785" y="3962787"/>
            <a:ext cx="5084515" cy="4889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2"/>
              </a:lnSpc>
            </a:pPr>
            <a:r>
              <a:rPr lang="en-US" sz="34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Submitted To: Prof. Anukreeti Chaudhary</a:t>
            </a:r>
          </a:p>
          <a:p>
            <a:pPr algn="ctr">
              <a:lnSpc>
                <a:spcPts val="4802"/>
              </a:lnSpc>
            </a:pPr>
            <a:r>
              <a:rPr lang="en-US" sz="34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Subject: UI/UX</a:t>
            </a:r>
          </a:p>
          <a:p>
            <a:pPr algn="ctr">
              <a:lnSpc>
                <a:spcPts val="4802"/>
              </a:lnSpc>
            </a:pPr>
          </a:p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Submitted by: Tanvi Dave -242126</a:t>
            </a:r>
          </a:p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Shubhangni Chawla - 242119</a:t>
            </a:r>
          </a:p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Kavya Gajjar - 242164</a:t>
            </a:r>
          </a:p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Akanksha Rajpurohit - 242111</a:t>
            </a:r>
          </a:p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Pari Rangrej - 242118</a:t>
            </a:r>
          </a:p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B.Tech - Division 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STARTUP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554480"/>
            <a:ext cx="16459200" cy="1371600"/>
            <a:chOff x="0" y="0"/>
            <a:chExt cx="2194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About </a:t>
              </a:r>
              <a:r>
                <a:rPr lang="en-US" sz="64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Snapdeal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5167" y="3194047"/>
            <a:ext cx="3853177" cy="3030217"/>
            <a:chOff x="0" y="0"/>
            <a:chExt cx="5137569" cy="40402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509" y="8509"/>
              <a:ext cx="5120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37658" cy="4040378"/>
            </a:xfrm>
            <a:custGeom>
              <a:avLst/>
              <a:gdLst/>
              <a:ahLst/>
              <a:cxnLst/>
              <a:rect r="r" b="b" t="t" l="l"/>
              <a:pathLst>
                <a:path h="404037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4031869"/>
                  </a:lnTo>
                  <a:cubicBezTo>
                    <a:pt x="5137658" y="4036568"/>
                    <a:pt x="5133848" y="4040378"/>
                    <a:pt x="512914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5129149" y="4023360"/>
                  </a:lnTo>
                  <a:lnTo>
                    <a:pt x="5129149" y="4031869"/>
                  </a:lnTo>
                  <a:lnTo>
                    <a:pt x="5120640" y="403186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3328416"/>
            <a:ext cx="3840480" cy="914400"/>
            <a:chOff x="0" y="0"/>
            <a:chExt cx="512064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1206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🛒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4261104"/>
            <a:ext cx="3840480" cy="768096"/>
            <a:chOff x="0" y="0"/>
            <a:chExt cx="512064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1206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E-Commerce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5029200"/>
            <a:ext cx="3840480" cy="457200"/>
            <a:chOff x="0" y="0"/>
            <a:chExt cx="512064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Industry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5504688"/>
            <a:ext cx="3840480" cy="457200"/>
            <a:chOff x="0" y="0"/>
            <a:chExt cx="512064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Retail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31407" y="3194047"/>
            <a:ext cx="3853177" cy="3030217"/>
            <a:chOff x="0" y="0"/>
            <a:chExt cx="5137569" cy="40402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509" y="8509"/>
              <a:ext cx="5120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7658" cy="4040378"/>
            </a:xfrm>
            <a:custGeom>
              <a:avLst/>
              <a:gdLst/>
              <a:ahLst/>
              <a:cxnLst/>
              <a:rect r="r" b="b" t="t" l="l"/>
              <a:pathLst>
                <a:path h="404037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4031869"/>
                  </a:lnTo>
                  <a:cubicBezTo>
                    <a:pt x="5137658" y="4036568"/>
                    <a:pt x="5133848" y="4040378"/>
                    <a:pt x="512914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5129149" y="4023360"/>
                  </a:lnTo>
                  <a:lnTo>
                    <a:pt x="5129149" y="4031869"/>
                  </a:lnTo>
                  <a:lnTo>
                    <a:pt x="5120640" y="403186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37760" y="3328416"/>
            <a:ext cx="3840480" cy="914400"/>
            <a:chOff x="0" y="0"/>
            <a:chExt cx="51206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51206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📅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37760" y="4261104"/>
            <a:ext cx="3840480" cy="768096"/>
            <a:chOff x="0" y="0"/>
            <a:chExt cx="512064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0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51206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2010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37760" y="5029200"/>
            <a:ext cx="3840480" cy="457200"/>
            <a:chOff x="0" y="0"/>
            <a:chExt cx="512064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Founded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37760" y="5504688"/>
            <a:ext cx="3840480" cy="457200"/>
            <a:chOff x="0" y="0"/>
            <a:chExt cx="512064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Delhi, India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37647" y="3194047"/>
            <a:ext cx="3853177" cy="3030217"/>
            <a:chOff x="0" y="0"/>
            <a:chExt cx="5137569" cy="40402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5120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7658" cy="4040378"/>
            </a:xfrm>
            <a:custGeom>
              <a:avLst/>
              <a:gdLst/>
              <a:ahLst/>
              <a:cxnLst/>
              <a:rect r="r" b="b" t="t" l="l"/>
              <a:pathLst>
                <a:path h="404037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4031869"/>
                  </a:lnTo>
                  <a:cubicBezTo>
                    <a:pt x="5137658" y="4036568"/>
                    <a:pt x="5133848" y="4040378"/>
                    <a:pt x="512914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5129149" y="4023360"/>
                  </a:lnTo>
                  <a:lnTo>
                    <a:pt x="5129149" y="4031869"/>
                  </a:lnTo>
                  <a:lnTo>
                    <a:pt x="5120640" y="403186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144000" y="3328416"/>
            <a:ext cx="3840480" cy="914400"/>
            <a:chOff x="0" y="0"/>
            <a:chExt cx="51206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51206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👥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0" y="4261104"/>
            <a:ext cx="3840480" cy="768096"/>
            <a:chOff x="0" y="0"/>
            <a:chExt cx="512064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1206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100M+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0" y="5029200"/>
            <a:ext cx="3840480" cy="457200"/>
            <a:chOff x="0" y="0"/>
            <a:chExt cx="512064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144000" y="5504688"/>
            <a:ext cx="3840480" cy="457200"/>
            <a:chOff x="0" y="0"/>
            <a:chExt cx="512064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Registered Buyers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343887" y="3194047"/>
            <a:ext cx="3853177" cy="3030217"/>
            <a:chOff x="0" y="0"/>
            <a:chExt cx="5137569" cy="404028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8509" y="8509"/>
              <a:ext cx="512064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37658" cy="4040378"/>
            </a:xfrm>
            <a:custGeom>
              <a:avLst/>
              <a:gdLst/>
              <a:ahLst/>
              <a:cxnLst/>
              <a:rect r="r" b="b" t="t" l="l"/>
              <a:pathLst>
                <a:path h="4040378" w="5137658">
                  <a:moveTo>
                    <a:pt x="8509" y="0"/>
                  </a:moveTo>
                  <a:lnTo>
                    <a:pt x="5129149" y="0"/>
                  </a:lnTo>
                  <a:cubicBezTo>
                    <a:pt x="5133848" y="0"/>
                    <a:pt x="5137658" y="3810"/>
                    <a:pt x="5137658" y="8509"/>
                  </a:cubicBezTo>
                  <a:lnTo>
                    <a:pt x="5137658" y="4031869"/>
                  </a:lnTo>
                  <a:cubicBezTo>
                    <a:pt x="5137658" y="4036568"/>
                    <a:pt x="5133848" y="4040378"/>
                    <a:pt x="5129149" y="4040378"/>
                  </a:cubicBezTo>
                  <a:lnTo>
                    <a:pt x="8509" y="4040378"/>
                  </a:lnTo>
                  <a:cubicBezTo>
                    <a:pt x="3810" y="4040378"/>
                    <a:pt x="0" y="4036568"/>
                    <a:pt x="0" y="40318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1869"/>
                  </a:lnTo>
                  <a:lnTo>
                    <a:pt x="8509" y="4031869"/>
                  </a:lnTo>
                  <a:lnTo>
                    <a:pt x="8509" y="4023360"/>
                  </a:lnTo>
                  <a:lnTo>
                    <a:pt x="5129149" y="4023360"/>
                  </a:lnTo>
                  <a:lnTo>
                    <a:pt x="5129149" y="4031869"/>
                  </a:lnTo>
                  <a:lnTo>
                    <a:pt x="5120640" y="4031869"/>
                  </a:lnTo>
                  <a:lnTo>
                    <a:pt x="5120640" y="8509"/>
                  </a:lnTo>
                  <a:lnTo>
                    <a:pt x="5129149" y="8509"/>
                  </a:lnTo>
                  <a:lnTo>
                    <a:pt x="5129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350240" y="3328416"/>
            <a:ext cx="3840480" cy="914400"/>
            <a:chOff x="0" y="0"/>
            <a:chExt cx="512064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51206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🏪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350240" y="4261104"/>
            <a:ext cx="3840480" cy="768096"/>
            <a:chOff x="0" y="0"/>
            <a:chExt cx="512064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51206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500K+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350240" y="5029200"/>
            <a:ext cx="3840480" cy="457200"/>
            <a:chOff x="0" y="0"/>
            <a:chExt cx="512064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6B72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Sellers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350240" y="5504688"/>
            <a:ext cx="3840480" cy="457200"/>
            <a:chOff x="0" y="0"/>
            <a:chExt cx="512064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512064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Partner Merchants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18823" y="6570983"/>
            <a:ext cx="16850363" cy="2951483"/>
            <a:chOff x="0" y="0"/>
            <a:chExt cx="22467151" cy="39353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2433280" cy="3901440"/>
            </a:xfrm>
            <a:custGeom>
              <a:avLst/>
              <a:gdLst/>
              <a:ahLst/>
              <a:cxnLst/>
              <a:rect r="r" b="b" t="t" l="l"/>
              <a:pathLst>
                <a:path h="3901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3901440"/>
                  </a:lnTo>
                  <a:lnTo>
                    <a:pt x="0" y="3901440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67063" cy="3935222"/>
            </a:xfrm>
            <a:custGeom>
              <a:avLst/>
              <a:gdLst/>
              <a:ahLst/>
              <a:cxnLst/>
              <a:rect r="r" b="b" t="t" l="l"/>
              <a:pathLst>
                <a:path h="393522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3918331"/>
                  </a:lnTo>
                  <a:cubicBezTo>
                    <a:pt x="22467063" y="3927729"/>
                    <a:pt x="22459443" y="3935222"/>
                    <a:pt x="22450171" y="3935222"/>
                  </a:cubicBezTo>
                  <a:lnTo>
                    <a:pt x="16891" y="3935222"/>
                  </a:lnTo>
                  <a:cubicBezTo>
                    <a:pt x="7493" y="3935222"/>
                    <a:pt x="0" y="3927602"/>
                    <a:pt x="0" y="3918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8331"/>
                  </a:lnTo>
                  <a:lnTo>
                    <a:pt x="16891" y="3918331"/>
                  </a:lnTo>
                  <a:lnTo>
                    <a:pt x="16891" y="3901440"/>
                  </a:lnTo>
                  <a:lnTo>
                    <a:pt x="22450171" y="3901440"/>
                  </a:lnTo>
                  <a:lnTo>
                    <a:pt x="22450171" y="3918331"/>
                  </a:lnTo>
                  <a:lnTo>
                    <a:pt x="22433280" y="391833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280160" y="6691884"/>
            <a:ext cx="1591056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E834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Snapdeal </a:t>
            </a:r>
            <a:r>
              <a:rPr lang="en-US" sz="2400">
                <a:solidFill>
                  <a:srgbClr val="FCF6F5"/>
                </a:solidFill>
                <a:latin typeface="Calibri (MS)"/>
                <a:ea typeface="Calibri (MS)"/>
                <a:cs typeface="Calibri (MS)"/>
                <a:sym typeface="Calibri (MS)"/>
              </a:rPr>
              <a:t>is an Indian e-commerce unicorn founded in 2010 by Kunal Bahl and Rohit Bansal. Initially a daily deals platform, it pivoted to become a full-fledged online marketplace. Despite stiff competition from Amazon and Flipkart, Snapdeal serves millions of value-conscious shoppers across India — particularly in Tier 2 and Tier 3 cities — offering products across 800+ categories.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E834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Users: </a:t>
            </a:r>
            <a:r>
              <a:rPr lang="en-US" sz="2400">
                <a:solidFill>
                  <a:srgbClr val="9CA3AF"/>
                </a:solidFill>
                <a:latin typeface="Calibri (MS)"/>
                <a:ea typeface="Calibri (MS)"/>
                <a:cs typeface="Calibri (MS)"/>
                <a:sym typeface="Calibri (MS)"/>
              </a:rPr>
              <a:t>Budget-conscious shoppers, first-time online buyers, and semi-urban/rural consumers aged 18–40.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99001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900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FCF6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UI/UX ANALYSIS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499616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 Key Usability Problems Identified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0203" y="2913383"/>
            <a:ext cx="172039" cy="2079241"/>
            <a:chOff x="0" y="0"/>
            <a:chExt cx="204559" cy="24722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2416" y="2926080"/>
            <a:ext cx="1097280" cy="694944"/>
            <a:chOff x="0" y="0"/>
            <a:chExt cx="1463040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63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2416" y="3602736"/>
            <a:ext cx="7827264" cy="512064"/>
            <a:chOff x="0" y="0"/>
            <a:chExt cx="10436352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36352" cy="682752"/>
            </a:xfrm>
            <a:custGeom>
              <a:avLst/>
              <a:gdLst/>
              <a:ahLst/>
              <a:cxnLst/>
              <a:rect r="r" b="b" t="t" l="l"/>
              <a:pathLst>
                <a:path h="68275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4363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Cluttered Homepage &amp; Visual Noise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2416" y="4078224"/>
            <a:ext cx="7827264" cy="914400"/>
            <a:chOff x="0" y="0"/>
            <a:chExt cx="10436352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36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791" r="0" b="-1167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436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original Snapdeal homepage overwhelms users with too many banners, promotions, and product grids all competing for attention simultaneously. There is no visual hierarchy guiding the user's eye — resulting in high cognitive load and decision fatigue.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0203" y="5199383"/>
            <a:ext cx="172039" cy="2079241"/>
            <a:chOff x="0" y="0"/>
            <a:chExt cx="204559" cy="24722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42416" y="5212080"/>
            <a:ext cx="1097280" cy="694944"/>
            <a:chOff x="0" y="0"/>
            <a:chExt cx="146304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463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2416" y="5888736"/>
            <a:ext cx="7827264" cy="512064"/>
            <a:chOff x="0" y="0"/>
            <a:chExt cx="10436352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36352" cy="682752"/>
            </a:xfrm>
            <a:custGeom>
              <a:avLst/>
              <a:gdLst/>
              <a:ahLst/>
              <a:cxnLst/>
              <a:rect r="r" b="b" t="t" l="l"/>
              <a:pathLst>
                <a:path h="68275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4363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Outdated &amp; Inconsistent Visual Design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2416" y="6364224"/>
            <a:ext cx="7827264" cy="914400"/>
            <a:chOff x="0" y="0"/>
            <a:chExt cx="10436352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36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791" r="0" b="-11679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436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Typography, color usage, button styles, and card layouts vary inconsistently across pages. The UI feels dated compared to modern e-commerce standards, reducing perceived trustworthiness and brand quality.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00203" y="7485383"/>
            <a:ext cx="172039" cy="2079241"/>
            <a:chOff x="0" y="0"/>
            <a:chExt cx="204559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42416" y="7498080"/>
            <a:ext cx="1097280" cy="694944"/>
            <a:chOff x="0" y="0"/>
            <a:chExt cx="146304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463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42416" y="8174736"/>
            <a:ext cx="7827264" cy="512064"/>
            <a:chOff x="0" y="0"/>
            <a:chExt cx="10436352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436352" cy="682752"/>
            </a:xfrm>
            <a:custGeom>
              <a:avLst/>
              <a:gdLst/>
              <a:ahLst/>
              <a:cxnLst/>
              <a:rect r="r" b="b" t="t" l="l"/>
              <a:pathLst>
                <a:path h="68275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04363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Poor Search Experience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2416" y="8650224"/>
            <a:ext cx="7827264" cy="914400"/>
            <a:chOff x="0" y="0"/>
            <a:chExt cx="10436352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36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791" r="0" b="-11679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436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 results lack proper filtering, sorting, and relevance ranking. Users searching for specific products receive irrelevant or poorly organized listings with no quick-filter sidebar, making product discovery frustrating.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87003" y="2913383"/>
            <a:ext cx="172039" cy="2079241"/>
            <a:chOff x="0" y="0"/>
            <a:chExt cx="204559" cy="24722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29216" y="2926080"/>
            <a:ext cx="1097280" cy="694944"/>
            <a:chOff x="0" y="0"/>
            <a:chExt cx="146304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463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729216" y="3602736"/>
            <a:ext cx="7827264" cy="512064"/>
            <a:chOff x="0" y="0"/>
            <a:chExt cx="10436352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436352" cy="682752"/>
            </a:xfrm>
            <a:custGeom>
              <a:avLst/>
              <a:gdLst/>
              <a:ahLst/>
              <a:cxnLst/>
              <a:rect r="r" b="b" t="t" l="l"/>
              <a:pathLst>
                <a:path h="68275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04363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Confusing Navigation Structure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729216" y="4078224"/>
            <a:ext cx="7827264" cy="914400"/>
            <a:chOff x="0" y="0"/>
            <a:chExt cx="10436352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36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791" r="0" b="-116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436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 navigation is buried and inconsistently placed. Users cannot easily browse by category from the home screen; mega-menus are slow and overcrowded, increasing the time-to-product and dropout rates.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05623" y="5199383"/>
            <a:ext cx="172039" cy="2079241"/>
            <a:chOff x="0" y="0"/>
            <a:chExt cx="204559" cy="24722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7068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4470" cy="2472182"/>
            </a:xfrm>
            <a:custGeom>
              <a:avLst/>
              <a:gdLst/>
              <a:ahLst/>
              <a:cxnLst/>
              <a:rect r="r" b="b" t="t" l="l"/>
              <a:pathLst>
                <a:path h="247218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455291"/>
                  </a:lnTo>
                  <a:cubicBezTo>
                    <a:pt x="204470" y="2464689"/>
                    <a:pt x="196850" y="2472182"/>
                    <a:pt x="18757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187579" y="2438400"/>
                  </a:lnTo>
                  <a:lnTo>
                    <a:pt x="187579" y="2455291"/>
                  </a:lnTo>
                  <a:lnTo>
                    <a:pt x="170688" y="245529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729216" y="5212080"/>
            <a:ext cx="1097280" cy="694944"/>
            <a:chOff x="0" y="0"/>
            <a:chExt cx="1463040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463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E834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29216" y="5888736"/>
            <a:ext cx="7827264" cy="512064"/>
            <a:chOff x="0" y="0"/>
            <a:chExt cx="10436352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36352" cy="682752"/>
            </a:xfrm>
            <a:custGeom>
              <a:avLst/>
              <a:gdLst/>
              <a:ahLst/>
              <a:cxnLst/>
              <a:rect r="r" b="b" t="t" l="l"/>
              <a:pathLst>
                <a:path h="682752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842" r="0" b="-24784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10436352" cy="682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Weak Product Detail Page (PDP)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29216" y="6364224"/>
            <a:ext cx="7827264" cy="914400"/>
            <a:chOff x="0" y="0"/>
            <a:chExt cx="10436352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363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36352">
                  <a:moveTo>
                    <a:pt x="0" y="0"/>
                  </a:moveTo>
                  <a:lnTo>
                    <a:pt x="10436352" y="0"/>
                  </a:lnTo>
                  <a:lnTo>
                    <a:pt x="104363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791" r="0" b="-11679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436352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pages display insufficient imagery, poor image zoom, vague descriptions, and unclear CTAs. Trust signals like verified reviews, delivery estimate, and return policy are not prominently visible, reducing purchase confidence.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FCF6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REVAMP PROPOSAL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499616"/>
            <a:ext cx="16459200" cy="1097280"/>
            <a:chOff x="0" y="0"/>
            <a:chExt cx="219456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Design Improvements Based on UX Principles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555" y="3007995"/>
            <a:ext cx="5414010" cy="3036570"/>
            <a:chOff x="0" y="0"/>
            <a:chExt cx="7218680" cy="4048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71932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1868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218680">
                  <a:moveTo>
                    <a:pt x="12700" y="0"/>
                  </a:moveTo>
                  <a:lnTo>
                    <a:pt x="7205980" y="0"/>
                  </a:lnTo>
                  <a:cubicBezTo>
                    <a:pt x="7212965" y="0"/>
                    <a:pt x="7218680" y="5715"/>
                    <a:pt x="7218680" y="12700"/>
                  </a:cubicBezTo>
                  <a:lnTo>
                    <a:pt x="7218680" y="4036060"/>
                  </a:lnTo>
                  <a:cubicBezTo>
                    <a:pt x="7218680" y="4043045"/>
                    <a:pt x="7212965" y="4048760"/>
                    <a:pt x="720598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7205980" y="4023360"/>
                  </a:lnTo>
                  <a:lnTo>
                    <a:pt x="7205980" y="4036060"/>
                  </a:lnTo>
                  <a:lnTo>
                    <a:pt x="7193280" y="4036060"/>
                  </a:lnTo>
                  <a:lnTo>
                    <a:pt x="7193280" y="12700"/>
                  </a:lnTo>
                  <a:lnTo>
                    <a:pt x="7205980" y="12700"/>
                  </a:lnTo>
                  <a:lnTo>
                    <a:pt x="720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0080" y="3200400"/>
            <a:ext cx="5394960" cy="822960"/>
            <a:chOff x="0" y="0"/>
            <a:chExt cx="7193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7193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4023360"/>
            <a:ext cx="5029200" cy="585216"/>
            <a:chOff x="0" y="0"/>
            <a:chExt cx="6705600" cy="7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7056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CF6F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Clear Visual Hierarchy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4626864"/>
            <a:ext cx="5029200" cy="1243584"/>
            <a:chOff x="0" y="0"/>
            <a:chExt cx="6705600" cy="16581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70560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Applied Gestalt principles — size, contrast, and whitespace guide the user's eye from hero banner to categories to products. Reduced visual clutter significantly.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91275" y="3007995"/>
            <a:ext cx="5414010" cy="3036570"/>
            <a:chOff x="0" y="0"/>
            <a:chExt cx="7218680" cy="4048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00" y="12700"/>
              <a:ext cx="71932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1868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218680">
                  <a:moveTo>
                    <a:pt x="12700" y="0"/>
                  </a:moveTo>
                  <a:lnTo>
                    <a:pt x="7205980" y="0"/>
                  </a:lnTo>
                  <a:cubicBezTo>
                    <a:pt x="7212965" y="0"/>
                    <a:pt x="7218680" y="5715"/>
                    <a:pt x="7218680" y="12700"/>
                  </a:cubicBezTo>
                  <a:lnTo>
                    <a:pt x="7218680" y="4036060"/>
                  </a:lnTo>
                  <a:cubicBezTo>
                    <a:pt x="7218680" y="4043045"/>
                    <a:pt x="7212965" y="4048760"/>
                    <a:pt x="720598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7205980" y="4023360"/>
                  </a:lnTo>
                  <a:lnTo>
                    <a:pt x="7205980" y="4036060"/>
                  </a:lnTo>
                  <a:lnTo>
                    <a:pt x="7193280" y="4036060"/>
                  </a:lnTo>
                  <a:lnTo>
                    <a:pt x="7193280" y="12700"/>
                  </a:lnTo>
                  <a:lnTo>
                    <a:pt x="7205980" y="12700"/>
                  </a:lnTo>
                  <a:lnTo>
                    <a:pt x="720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0" y="3200400"/>
            <a:ext cx="5394960" cy="822960"/>
            <a:chOff x="0" y="0"/>
            <a:chExt cx="7193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7193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🎨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83680" y="4023360"/>
            <a:ext cx="5029200" cy="585216"/>
            <a:chOff x="0" y="0"/>
            <a:chExt cx="6705600" cy="780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7056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CF6F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Consistent Design System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83680" y="4626864"/>
            <a:ext cx="5029200" cy="1243584"/>
            <a:chOff x="0" y="0"/>
            <a:chExt cx="6705600" cy="16581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70560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color palette (Red #E8344A, Navy #1a1a2e), consistent typography, standardized button sizes, card corners, and spacing grid across all pages.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151995" y="3007995"/>
            <a:ext cx="5414010" cy="3036570"/>
            <a:chOff x="0" y="0"/>
            <a:chExt cx="7218680" cy="4048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2700" y="12700"/>
              <a:ext cx="71932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1868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218680">
                  <a:moveTo>
                    <a:pt x="12700" y="0"/>
                  </a:moveTo>
                  <a:lnTo>
                    <a:pt x="7205980" y="0"/>
                  </a:lnTo>
                  <a:cubicBezTo>
                    <a:pt x="7212965" y="0"/>
                    <a:pt x="7218680" y="5715"/>
                    <a:pt x="7218680" y="12700"/>
                  </a:cubicBezTo>
                  <a:lnTo>
                    <a:pt x="7218680" y="4036060"/>
                  </a:lnTo>
                  <a:cubicBezTo>
                    <a:pt x="7218680" y="4043045"/>
                    <a:pt x="7212965" y="4048760"/>
                    <a:pt x="720598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7205980" y="4023360"/>
                  </a:lnTo>
                  <a:lnTo>
                    <a:pt x="7205980" y="4036060"/>
                  </a:lnTo>
                  <a:lnTo>
                    <a:pt x="7193280" y="4036060"/>
                  </a:lnTo>
                  <a:lnTo>
                    <a:pt x="7193280" y="12700"/>
                  </a:lnTo>
                  <a:lnTo>
                    <a:pt x="7205980" y="12700"/>
                  </a:lnTo>
                  <a:lnTo>
                    <a:pt x="720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161520" y="3200400"/>
            <a:ext cx="5394960" cy="822960"/>
            <a:chOff x="0" y="0"/>
            <a:chExt cx="7193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7193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🔍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44400" y="4023360"/>
            <a:ext cx="5029200" cy="585216"/>
            <a:chOff x="0" y="0"/>
            <a:chExt cx="6705600" cy="7802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7056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CF6F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Enhanced Search &amp; Filters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44400" y="4626864"/>
            <a:ext cx="5029200" cy="1243584"/>
            <a:chOff x="0" y="0"/>
            <a:chExt cx="6705600" cy="165811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70560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Prominent search bar with autocomplete, left-side filter panel (price, rating, brand, delivery), and relevance-sorted results with clean product cards.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30555" y="6391275"/>
            <a:ext cx="5414010" cy="3036570"/>
            <a:chOff x="0" y="0"/>
            <a:chExt cx="7218680" cy="40487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2700" y="12700"/>
              <a:ext cx="71932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21868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218680">
                  <a:moveTo>
                    <a:pt x="12700" y="0"/>
                  </a:moveTo>
                  <a:lnTo>
                    <a:pt x="7205980" y="0"/>
                  </a:lnTo>
                  <a:cubicBezTo>
                    <a:pt x="7212965" y="0"/>
                    <a:pt x="7218680" y="5715"/>
                    <a:pt x="7218680" y="12700"/>
                  </a:cubicBezTo>
                  <a:lnTo>
                    <a:pt x="7218680" y="4036060"/>
                  </a:lnTo>
                  <a:cubicBezTo>
                    <a:pt x="7218680" y="4043045"/>
                    <a:pt x="7212965" y="4048760"/>
                    <a:pt x="720598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7205980" y="4023360"/>
                  </a:lnTo>
                  <a:lnTo>
                    <a:pt x="7205980" y="4036060"/>
                  </a:lnTo>
                  <a:lnTo>
                    <a:pt x="7193280" y="4036060"/>
                  </a:lnTo>
                  <a:lnTo>
                    <a:pt x="7193280" y="12700"/>
                  </a:lnTo>
                  <a:lnTo>
                    <a:pt x="7205980" y="12700"/>
                  </a:lnTo>
                  <a:lnTo>
                    <a:pt x="720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0080" y="6583680"/>
            <a:ext cx="5394960" cy="822960"/>
            <a:chOff x="0" y="0"/>
            <a:chExt cx="71932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7193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🧭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7406640"/>
            <a:ext cx="5029200" cy="585216"/>
            <a:chOff x="0" y="0"/>
            <a:chExt cx="670560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67056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CF6F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Simplified Navigation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8010144"/>
            <a:ext cx="5029200" cy="1243584"/>
            <a:chOff x="0" y="0"/>
            <a:chExt cx="6705600" cy="165811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70560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Sticky top navbar with category icon strip, clear breadcrumbs, and a redesigned mega-menu with visual category cards instead of plain text links.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91275" y="6391275"/>
            <a:ext cx="5414010" cy="3036570"/>
            <a:chOff x="0" y="0"/>
            <a:chExt cx="7218680" cy="40487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2700" y="12700"/>
              <a:ext cx="71932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1868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218680">
                  <a:moveTo>
                    <a:pt x="12700" y="0"/>
                  </a:moveTo>
                  <a:lnTo>
                    <a:pt x="7205980" y="0"/>
                  </a:lnTo>
                  <a:cubicBezTo>
                    <a:pt x="7212965" y="0"/>
                    <a:pt x="7218680" y="5715"/>
                    <a:pt x="7218680" y="12700"/>
                  </a:cubicBezTo>
                  <a:lnTo>
                    <a:pt x="7218680" y="4036060"/>
                  </a:lnTo>
                  <a:cubicBezTo>
                    <a:pt x="7218680" y="4043045"/>
                    <a:pt x="7212965" y="4048760"/>
                    <a:pt x="720598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7205980" y="4023360"/>
                  </a:lnTo>
                  <a:lnTo>
                    <a:pt x="7205980" y="4036060"/>
                  </a:lnTo>
                  <a:lnTo>
                    <a:pt x="7193280" y="4036060"/>
                  </a:lnTo>
                  <a:lnTo>
                    <a:pt x="7193280" y="12700"/>
                  </a:lnTo>
                  <a:lnTo>
                    <a:pt x="7205980" y="12700"/>
                  </a:lnTo>
                  <a:lnTo>
                    <a:pt x="720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400800" y="6583680"/>
            <a:ext cx="5394960" cy="822960"/>
            <a:chOff x="0" y="0"/>
            <a:chExt cx="719328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7193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583680" y="7406640"/>
            <a:ext cx="5029200" cy="585216"/>
            <a:chOff x="0" y="0"/>
            <a:chExt cx="6705600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7056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CF6F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Trust-First PDP Design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83680" y="8010144"/>
            <a:ext cx="5029200" cy="1243584"/>
            <a:chOff x="0" y="0"/>
            <a:chExt cx="6705600" cy="16581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70560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pages now highlight delivery dates, return policy, verified reviews, and image zoom prominently. Bold CTA buttons with clear price hierarchy.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151995" y="6391275"/>
            <a:ext cx="5414010" cy="3036570"/>
            <a:chOff x="0" y="0"/>
            <a:chExt cx="7218680" cy="4048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2700" y="12700"/>
              <a:ext cx="719328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4023360"/>
                  </a:lnTo>
                  <a:lnTo>
                    <a:pt x="0" y="4023360"/>
                  </a:lnTo>
                  <a:close/>
                </a:path>
              </a:pathLst>
            </a:custGeom>
            <a:solidFill>
              <a:srgbClr val="FFFFFF">
                <a:alpha val="39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1868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218680">
                  <a:moveTo>
                    <a:pt x="12700" y="0"/>
                  </a:moveTo>
                  <a:lnTo>
                    <a:pt x="7205980" y="0"/>
                  </a:lnTo>
                  <a:cubicBezTo>
                    <a:pt x="7212965" y="0"/>
                    <a:pt x="7218680" y="5715"/>
                    <a:pt x="7218680" y="12700"/>
                  </a:cubicBezTo>
                  <a:lnTo>
                    <a:pt x="7218680" y="4036060"/>
                  </a:lnTo>
                  <a:cubicBezTo>
                    <a:pt x="7218680" y="4043045"/>
                    <a:pt x="7212965" y="4048760"/>
                    <a:pt x="7205980" y="4048760"/>
                  </a:cubicBezTo>
                  <a:lnTo>
                    <a:pt x="12700" y="4048760"/>
                  </a:lnTo>
                  <a:cubicBezTo>
                    <a:pt x="5715" y="4048760"/>
                    <a:pt x="0" y="4043045"/>
                    <a:pt x="0" y="403606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036060"/>
                  </a:lnTo>
                  <a:lnTo>
                    <a:pt x="12700" y="4036060"/>
                  </a:lnTo>
                  <a:lnTo>
                    <a:pt x="12700" y="4023360"/>
                  </a:lnTo>
                  <a:lnTo>
                    <a:pt x="7205980" y="4023360"/>
                  </a:lnTo>
                  <a:lnTo>
                    <a:pt x="7205980" y="4036060"/>
                  </a:lnTo>
                  <a:lnTo>
                    <a:pt x="7193280" y="4036060"/>
                  </a:lnTo>
                  <a:lnTo>
                    <a:pt x="7193280" y="12700"/>
                  </a:lnTo>
                  <a:lnTo>
                    <a:pt x="7205980" y="12700"/>
                  </a:lnTo>
                  <a:lnTo>
                    <a:pt x="720598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161520" y="6583680"/>
            <a:ext cx="5394960" cy="822960"/>
            <a:chOff x="0" y="0"/>
            <a:chExt cx="71932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19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76200"/>
              <a:ext cx="71932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44400" y="7406640"/>
            <a:ext cx="5029200" cy="585216"/>
            <a:chOff x="0" y="0"/>
            <a:chExt cx="6705600" cy="78028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05600" cy="780288"/>
            </a:xfrm>
            <a:custGeom>
              <a:avLst/>
              <a:gdLst/>
              <a:ahLst/>
              <a:cxnLst/>
              <a:rect r="r" b="b" t="t" l="l"/>
              <a:pathLst>
                <a:path h="78028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449" r="0" b="-11744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705600" cy="7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CF6F5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Mobile-First Approach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44400" y="8010144"/>
            <a:ext cx="5029200" cy="1243584"/>
            <a:chOff x="0" y="0"/>
            <a:chExt cx="6705600" cy="16581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7056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99" r="0" b="-2879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6705600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screens designed responsive-first. Bottom navigation bar for mobile, touch-friendly tap targets (min 44px), and thumb-zone optimised layouts.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E834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— HOMEPAGE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554480"/>
            <a:ext cx="10607040" cy="8138160"/>
            <a:chOff x="0" y="0"/>
            <a:chExt cx="14142720" cy="10850880"/>
          </a:xfrm>
        </p:grpSpPr>
        <p:sp>
          <p:nvSpPr>
            <p:cNvPr name="Freeform 9" id="9" descr="/home/claude/home.png"/>
            <p:cNvSpPr/>
            <p:nvPr/>
          </p:nvSpPr>
          <p:spPr>
            <a:xfrm flipH="false" flipV="false" rot="0">
              <a:off x="0" y="0"/>
              <a:ext cx="14142720" cy="10850880"/>
            </a:xfrm>
            <a:custGeom>
              <a:avLst/>
              <a:gdLst/>
              <a:ahLst/>
              <a:cxnLst/>
              <a:rect r="r" b="b" t="t" l="l"/>
              <a:pathLst>
                <a:path h="1085088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0850880"/>
                  </a:lnTo>
                  <a:lnTo>
                    <a:pt x="0" y="1085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39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8823" y="1541783"/>
            <a:ext cx="10632443" cy="8163563"/>
            <a:chOff x="0" y="0"/>
            <a:chExt cx="14176591" cy="10884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76502" cy="10884662"/>
            </a:xfrm>
            <a:custGeom>
              <a:avLst/>
              <a:gdLst/>
              <a:ahLst/>
              <a:cxnLst/>
              <a:rect r="r" b="b" t="t" l="l"/>
              <a:pathLst>
                <a:path h="10884662" w="14176502">
                  <a:moveTo>
                    <a:pt x="16891" y="0"/>
                  </a:moveTo>
                  <a:lnTo>
                    <a:pt x="14159610" y="0"/>
                  </a:lnTo>
                  <a:cubicBezTo>
                    <a:pt x="14169008" y="0"/>
                    <a:pt x="14176502" y="7620"/>
                    <a:pt x="14176502" y="16891"/>
                  </a:cubicBezTo>
                  <a:lnTo>
                    <a:pt x="14176502" y="10867772"/>
                  </a:lnTo>
                  <a:cubicBezTo>
                    <a:pt x="14176502" y="10877169"/>
                    <a:pt x="14168882" y="10884662"/>
                    <a:pt x="14159610" y="10884662"/>
                  </a:cubicBezTo>
                  <a:lnTo>
                    <a:pt x="16891" y="10884662"/>
                  </a:lnTo>
                  <a:cubicBezTo>
                    <a:pt x="7493" y="10884662"/>
                    <a:pt x="0" y="10877042"/>
                    <a:pt x="0" y="108677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867772"/>
                  </a:lnTo>
                  <a:lnTo>
                    <a:pt x="16891" y="10867772"/>
                  </a:lnTo>
                  <a:lnTo>
                    <a:pt x="16891" y="10850880"/>
                  </a:lnTo>
                  <a:lnTo>
                    <a:pt x="14159610" y="10850880"/>
                  </a:lnTo>
                  <a:lnTo>
                    <a:pt x="14159610" y="10867772"/>
                  </a:lnTo>
                  <a:lnTo>
                    <a:pt x="14142720" y="10867772"/>
                  </a:lnTo>
                  <a:lnTo>
                    <a:pt x="14142720" y="16891"/>
                  </a:lnTo>
                  <a:lnTo>
                    <a:pt x="14159610" y="16891"/>
                  </a:lnTo>
                  <a:lnTo>
                    <a:pt x="141596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04320" y="1645920"/>
            <a:ext cx="6035040" cy="822960"/>
            <a:chOff x="0" y="0"/>
            <a:chExt cx="804672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0467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Changed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91623" y="2821943"/>
            <a:ext cx="427739" cy="427739"/>
            <a:chOff x="0" y="0"/>
            <a:chExt cx="570319" cy="5703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89536" y="2798064"/>
            <a:ext cx="5486400" cy="512064"/>
            <a:chOff x="0" y="0"/>
            <a:chExt cx="7315200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315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sticky navbar with prominent search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91623" y="3882647"/>
            <a:ext cx="427739" cy="427739"/>
            <a:chOff x="0" y="0"/>
            <a:chExt cx="570319" cy="5703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252960" y="3727196"/>
            <a:ext cx="5486400" cy="775208"/>
            <a:chOff x="0" y="0"/>
            <a:chExt cx="7315200" cy="10336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1033611"/>
            </a:xfrm>
            <a:custGeom>
              <a:avLst/>
              <a:gdLst/>
              <a:ahLst/>
              <a:cxnLst/>
              <a:rect r="r" b="b" t="t" l="l"/>
              <a:pathLst>
                <a:path h="103361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874" r="0" b="-709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31520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Category strip with emoji icons for quick scanning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91623" y="4943351"/>
            <a:ext cx="427739" cy="427739"/>
            <a:chOff x="0" y="0"/>
            <a:chExt cx="570319" cy="5703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289536" y="4919472"/>
            <a:ext cx="5486400" cy="512064"/>
            <a:chOff x="0" y="0"/>
            <a:chExt cx="731520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7315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Hero banner with countdown timer for urgency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91623" y="6004055"/>
            <a:ext cx="427739" cy="427739"/>
            <a:chOff x="0" y="0"/>
            <a:chExt cx="570319" cy="5703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89536" y="5980176"/>
            <a:ext cx="5486400" cy="512064"/>
            <a:chOff x="0" y="0"/>
            <a:chExt cx="7315200" cy="682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7315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5-column product grid with consistent cards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691623" y="7064759"/>
            <a:ext cx="427739" cy="427739"/>
            <a:chOff x="0" y="0"/>
            <a:chExt cx="570319" cy="57031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89536" y="6987540"/>
            <a:ext cx="5486400" cy="775208"/>
            <a:chOff x="0" y="0"/>
            <a:chExt cx="7315200" cy="10336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0" cy="1033611"/>
            </a:xfrm>
            <a:custGeom>
              <a:avLst/>
              <a:gdLst/>
              <a:ahLst/>
              <a:cxnLst/>
              <a:rect r="r" b="b" t="t" l="l"/>
              <a:pathLst>
                <a:path h="103361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874" r="0" b="-7092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7315200" cy="10812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 bar: Free delivery, Easy returns, Secure payments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91623" y="8125463"/>
            <a:ext cx="427739" cy="427739"/>
            <a:chOff x="0" y="0"/>
            <a:chExt cx="570319" cy="57031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268224"/>
                  </a:moveTo>
                  <a:cubicBezTo>
                    <a:pt x="0" y="120142"/>
                    <a:pt x="120142" y="0"/>
                    <a:pt x="268224" y="0"/>
                  </a:cubicBezTo>
                  <a:cubicBezTo>
                    <a:pt x="416306" y="0"/>
                    <a:pt x="536448" y="120142"/>
                    <a:pt x="536448" y="268224"/>
                  </a:cubicBezTo>
                  <a:cubicBezTo>
                    <a:pt x="536448" y="416306"/>
                    <a:pt x="416306" y="536448"/>
                    <a:pt x="268224" y="536448"/>
                  </a:cubicBezTo>
                  <a:cubicBezTo>
                    <a:pt x="120142" y="536448"/>
                    <a:pt x="0" y="416433"/>
                    <a:pt x="0" y="268224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70230" cy="570230"/>
            </a:xfrm>
            <a:custGeom>
              <a:avLst/>
              <a:gdLst/>
              <a:ahLst/>
              <a:cxnLst/>
              <a:rect r="r" b="b" t="t" l="l"/>
              <a:pathLst>
                <a:path h="570230" w="570230">
                  <a:moveTo>
                    <a:pt x="0" y="285115"/>
                  </a:moveTo>
                  <a:cubicBezTo>
                    <a:pt x="0" y="127635"/>
                    <a:pt x="127635" y="0"/>
                    <a:pt x="285115" y="0"/>
                  </a:cubicBezTo>
                  <a:lnTo>
                    <a:pt x="285115" y="16891"/>
                  </a:lnTo>
                  <a:lnTo>
                    <a:pt x="285115" y="0"/>
                  </a:lnTo>
                  <a:cubicBezTo>
                    <a:pt x="442595" y="0"/>
                    <a:pt x="570230" y="127635"/>
                    <a:pt x="570230" y="285115"/>
                  </a:cubicBezTo>
                  <a:lnTo>
                    <a:pt x="553339" y="285115"/>
                  </a:lnTo>
                  <a:lnTo>
                    <a:pt x="570230" y="285115"/>
                  </a:lnTo>
                  <a:cubicBezTo>
                    <a:pt x="570230" y="442595"/>
                    <a:pt x="442595" y="570230"/>
                    <a:pt x="285115" y="570230"/>
                  </a:cubicBezTo>
                  <a:lnTo>
                    <a:pt x="285115" y="553339"/>
                  </a:lnTo>
                  <a:lnTo>
                    <a:pt x="285115" y="570230"/>
                  </a:lnTo>
                  <a:cubicBezTo>
                    <a:pt x="127635" y="570357"/>
                    <a:pt x="0" y="442595"/>
                    <a:pt x="0" y="285115"/>
                  </a:cubicBezTo>
                  <a:lnTo>
                    <a:pt x="16891" y="285115"/>
                  </a:lnTo>
                  <a:lnTo>
                    <a:pt x="33909" y="285115"/>
                  </a:lnTo>
                  <a:lnTo>
                    <a:pt x="16891" y="285115"/>
                  </a:lnTo>
                  <a:lnTo>
                    <a:pt x="0" y="285115"/>
                  </a:lnTo>
                  <a:moveTo>
                    <a:pt x="33909" y="285115"/>
                  </a:moveTo>
                  <a:cubicBezTo>
                    <a:pt x="33909" y="294513"/>
                    <a:pt x="26289" y="302006"/>
                    <a:pt x="17018" y="302006"/>
                  </a:cubicBezTo>
                  <a:cubicBezTo>
                    <a:pt x="7747" y="302006"/>
                    <a:pt x="0" y="294513"/>
                    <a:pt x="0" y="285115"/>
                  </a:cubicBezTo>
                  <a:cubicBezTo>
                    <a:pt x="0" y="275717"/>
                    <a:pt x="7620" y="268224"/>
                    <a:pt x="16891" y="268224"/>
                  </a:cubicBezTo>
                  <a:cubicBezTo>
                    <a:pt x="26162" y="268224"/>
                    <a:pt x="33782" y="275844"/>
                    <a:pt x="33782" y="285115"/>
                  </a:cubicBezTo>
                  <a:cubicBezTo>
                    <a:pt x="33782" y="423926"/>
                    <a:pt x="146304" y="536448"/>
                    <a:pt x="285115" y="536448"/>
                  </a:cubicBezTo>
                  <a:cubicBezTo>
                    <a:pt x="423926" y="536448"/>
                    <a:pt x="536448" y="423926"/>
                    <a:pt x="536448" y="285115"/>
                  </a:cubicBezTo>
                  <a:cubicBezTo>
                    <a:pt x="536448" y="146304"/>
                    <a:pt x="423926" y="33782"/>
                    <a:pt x="285115" y="33782"/>
                  </a:cubicBezTo>
                  <a:lnTo>
                    <a:pt x="285115" y="16891"/>
                  </a:lnTo>
                  <a:lnTo>
                    <a:pt x="285115" y="33909"/>
                  </a:lnTo>
                  <a:cubicBezTo>
                    <a:pt x="146304" y="33909"/>
                    <a:pt x="33782" y="146431"/>
                    <a:pt x="33782" y="285242"/>
                  </a:cubicBez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289536" y="8101584"/>
            <a:ext cx="5486400" cy="512064"/>
            <a:chOff x="0" y="0"/>
            <a:chExt cx="7315200" cy="682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15200" cy="682752"/>
            </a:xfrm>
            <a:custGeom>
              <a:avLst/>
              <a:gdLst/>
              <a:ahLst/>
              <a:cxnLst/>
              <a:rect r="r" b="b" t="t" l="l"/>
              <a:pathLst>
                <a:path h="68275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8768" r="0" b="-15876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73152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Dark footer with quick links and app badges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FCF6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— SEARCH &amp; PRODUCT DETAIL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499616"/>
            <a:ext cx="8229600" cy="640080"/>
            <a:chOff x="0" y="0"/>
            <a:chExt cx="109728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9728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Search &amp; Listing Page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231136"/>
            <a:ext cx="8229600" cy="6400800"/>
            <a:chOff x="0" y="0"/>
            <a:chExt cx="10972800" cy="8534400"/>
          </a:xfrm>
        </p:grpSpPr>
        <p:sp>
          <p:nvSpPr>
            <p:cNvPr name="Freeform 12" id="12" descr="/home/claude/search.png"/>
            <p:cNvSpPr/>
            <p:nvPr/>
          </p:nvSpPr>
          <p:spPr>
            <a:xfrm flipH="false" flipV="false" rot="0">
              <a:off x="0" y="0"/>
              <a:ext cx="10972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827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25172" y="2233932"/>
            <a:ext cx="8242297" cy="6413497"/>
            <a:chOff x="0" y="0"/>
            <a:chExt cx="10989729" cy="85513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89818" cy="8551418"/>
            </a:xfrm>
            <a:custGeom>
              <a:avLst/>
              <a:gdLst/>
              <a:ahLst/>
              <a:cxnLst/>
              <a:rect r="r" b="b" t="t" l="l"/>
              <a:pathLst>
                <a:path h="855141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8542909"/>
                  </a:lnTo>
                  <a:cubicBezTo>
                    <a:pt x="10989818" y="8547608"/>
                    <a:pt x="10986008" y="8551418"/>
                    <a:pt x="1098130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10981309" y="8534400"/>
                  </a:lnTo>
                  <a:lnTo>
                    <a:pt x="10981309" y="8542909"/>
                  </a:lnTo>
                  <a:lnTo>
                    <a:pt x="10972800" y="854290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1520" y="8741664"/>
            <a:ext cx="8229600" cy="548640"/>
            <a:chOff x="0" y="0"/>
            <a:chExt cx="109728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Filter sidebar  ·  Sort bar  ·  Product grid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9760" y="1499616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09728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Product Detail Page (PDP)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9760" y="2231136"/>
            <a:ext cx="8229600" cy="6400800"/>
            <a:chOff x="0" y="0"/>
            <a:chExt cx="10972800" cy="8534400"/>
          </a:xfrm>
        </p:grpSpPr>
        <p:sp>
          <p:nvSpPr>
            <p:cNvPr name="Freeform 22" id="22" descr="/home/claude/pdp.png"/>
            <p:cNvSpPr/>
            <p:nvPr/>
          </p:nvSpPr>
          <p:spPr>
            <a:xfrm flipH="false" flipV="false" rot="0">
              <a:off x="0" y="0"/>
              <a:ext cx="10972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8271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03407" y="2224783"/>
            <a:ext cx="8242297" cy="6413497"/>
            <a:chOff x="0" y="0"/>
            <a:chExt cx="10989729" cy="85513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89818" cy="8551418"/>
            </a:xfrm>
            <a:custGeom>
              <a:avLst/>
              <a:gdLst/>
              <a:ahLst/>
              <a:cxnLst/>
              <a:rect r="r" b="b" t="t" l="l"/>
              <a:pathLst>
                <a:path h="855141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8542909"/>
                  </a:lnTo>
                  <a:cubicBezTo>
                    <a:pt x="10989818" y="8547608"/>
                    <a:pt x="10986008" y="8551418"/>
                    <a:pt x="1098130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10981309" y="8534400"/>
                  </a:lnTo>
                  <a:lnTo>
                    <a:pt x="10981309" y="8542909"/>
                  </a:lnTo>
                  <a:lnTo>
                    <a:pt x="10972800" y="854290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0" y="8741664"/>
            <a:ext cx="8229600" cy="548640"/>
            <a:chOff x="0" y="0"/>
            <a:chExt cx="109728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Image gallery  ·  Price  ·  Trust signals  ·  CTA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1A1A2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E834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 — CART &amp; CHECKOUT 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1499616"/>
            <a:ext cx="8229600" cy="640080"/>
            <a:chOff x="0" y="0"/>
            <a:chExt cx="1097280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9728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Cart Page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231136"/>
            <a:ext cx="8229600" cy="6400800"/>
            <a:chOff x="0" y="0"/>
            <a:chExt cx="10972800" cy="8534400"/>
          </a:xfrm>
        </p:grpSpPr>
        <p:sp>
          <p:nvSpPr>
            <p:cNvPr name="Freeform 12" id="12" descr="/home/claude/cart.png"/>
            <p:cNvSpPr/>
            <p:nvPr/>
          </p:nvSpPr>
          <p:spPr>
            <a:xfrm flipH="false" flipV="false" rot="0">
              <a:off x="0" y="0"/>
              <a:ext cx="10972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827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8823" y="2218439"/>
            <a:ext cx="8255003" cy="6426203"/>
            <a:chOff x="0" y="0"/>
            <a:chExt cx="11006671" cy="85682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65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551291"/>
                  </a:lnTo>
                  <a:cubicBezTo>
                    <a:pt x="11006582" y="8560689"/>
                    <a:pt x="10998962" y="8568182"/>
                    <a:pt x="1098969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0989691" y="8534400"/>
                  </a:lnTo>
                  <a:lnTo>
                    <a:pt x="10989691" y="8551291"/>
                  </a:lnTo>
                  <a:lnTo>
                    <a:pt x="10972800" y="85512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18823" y="8854192"/>
            <a:ext cx="8229600" cy="548640"/>
            <a:chOff x="0" y="0"/>
            <a:chExt cx="1097280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Item summary  ·  Promo code  ·  Order total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09760" y="1499616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0972800" cy="862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A1A2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Checkout Page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9760" y="2231136"/>
            <a:ext cx="8229600" cy="6400800"/>
            <a:chOff x="0" y="0"/>
            <a:chExt cx="10972800" cy="8534400"/>
          </a:xfrm>
        </p:grpSpPr>
        <p:sp>
          <p:nvSpPr>
            <p:cNvPr name="Freeform 22" id="22" descr="/home/claude/checkout.png"/>
            <p:cNvSpPr/>
            <p:nvPr/>
          </p:nvSpPr>
          <p:spPr>
            <a:xfrm flipH="false" flipV="false" rot="0">
              <a:off x="0" y="0"/>
              <a:ext cx="109728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8271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97063" y="2218439"/>
            <a:ext cx="8255003" cy="6426203"/>
            <a:chOff x="0" y="0"/>
            <a:chExt cx="11006671" cy="85682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065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8551291"/>
                  </a:lnTo>
                  <a:cubicBezTo>
                    <a:pt x="11006582" y="8560689"/>
                    <a:pt x="10998962" y="8568182"/>
                    <a:pt x="10989691" y="8568182"/>
                  </a:cubicBezTo>
                  <a:lnTo>
                    <a:pt x="16891" y="8568182"/>
                  </a:lnTo>
                  <a:cubicBezTo>
                    <a:pt x="7493" y="8568182"/>
                    <a:pt x="0" y="8560562"/>
                    <a:pt x="0" y="855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51291"/>
                  </a:lnTo>
                  <a:lnTo>
                    <a:pt x="16891" y="8551291"/>
                  </a:lnTo>
                  <a:lnTo>
                    <a:pt x="16891" y="8534400"/>
                  </a:lnTo>
                  <a:lnTo>
                    <a:pt x="10989691" y="8534400"/>
                  </a:lnTo>
                  <a:lnTo>
                    <a:pt x="10989691" y="8551291"/>
                  </a:lnTo>
                  <a:lnTo>
                    <a:pt x="10972800" y="85512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09760" y="8854192"/>
            <a:ext cx="8229600" cy="548640"/>
            <a:chOff x="0" y="0"/>
            <a:chExt cx="1097280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9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Address  ·  Payment  ·  Order summary panel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05563"/>
            <a:chOff x="0" y="0"/>
            <a:chExt cx="24417871" cy="1740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990011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23771"/>
                  </a:lnTo>
                  <a:cubicBezTo>
                    <a:pt x="24417782" y="1733169"/>
                    <a:pt x="24410163" y="1740662"/>
                    <a:pt x="24400890" y="1740662"/>
                  </a:cubicBezTo>
                  <a:lnTo>
                    <a:pt x="16891" y="1740662"/>
                  </a:lnTo>
                  <a:cubicBezTo>
                    <a:pt x="7493" y="1740662"/>
                    <a:pt x="0" y="1733042"/>
                    <a:pt x="0" y="17237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23771"/>
                  </a:lnTo>
                  <a:lnTo>
                    <a:pt x="16891" y="1723771"/>
                  </a:lnTo>
                  <a:lnTo>
                    <a:pt x="16891" y="1706880"/>
                  </a:lnTo>
                  <a:lnTo>
                    <a:pt x="24400890" y="1706880"/>
                  </a:lnTo>
                  <a:lnTo>
                    <a:pt x="24400890" y="1723771"/>
                  </a:lnTo>
                  <a:lnTo>
                    <a:pt x="24384000" y="17237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99001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146304"/>
            <a:ext cx="16459200" cy="1005840"/>
            <a:chOff x="0" y="0"/>
            <a:chExt cx="219456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b="true" sz="2200" spc="799">
                  <a:solidFill>
                    <a:srgbClr val="FCF6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vs AFTER COMPARISON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8823" y="1486919"/>
            <a:ext cx="7523483" cy="793499"/>
            <a:chOff x="0" y="0"/>
            <a:chExt cx="10031311" cy="10579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ECDD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312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031222">
                  <a:moveTo>
                    <a:pt x="16891" y="0"/>
                  </a:moveTo>
                  <a:lnTo>
                    <a:pt x="10014331" y="0"/>
                  </a:lnTo>
                  <a:cubicBezTo>
                    <a:pt x="10023729" y="0"/>
                    <a:pt x="10031222" y="7620"/>
                    <a:pt x="10031222" y="16891"/>
                  </a:cubicBezTo>
                  <a:lnTo>
                    <a:pt x="10031222" y="1041019"/>
                  </a:lnTo>
                  <a:cubicBezTo>
                    <a:pt x="10031222" y="1050417"/>
                    <a:pt x="10023602" y="1057910"/>
                    <a:pt x="100143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014331" y="1024128"/>
                  </a:lnTo>
                  <a:lnTo>
                    <a:pt x="10014331" y="1041019"/>
                  </a:lnTo>
                  <a:lnTo>
                    <a:pt x="9997440" y="1041019"/>
                  </a:lnTo>
                  <a:lnTo>
                    <a:pt x="9997440" y="16891"/>
                  </a:lnTo>
                  <a:lnTo>
                    <a:pt x="10014331" y="16891"/>
                  </a:lnTo>
                  <a:lnTo>
                    <a:pt x="10014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ECDD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31520" y="1499616"/>
            <a:ext cx="7498080" cy="768096"/>
            <a:chOff x="0" y="0"/>
            <a:chExt cx="9997440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99744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990011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❌  Current Snapdeal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62823" y="1486919"/>
            <a:ext cx="7706363" cy="793499"/>
            <a:chOff x="0" y="0"/>
            <a:chExt cx="10275151" cy="10579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241281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1">
                  <a:moveTo>
                    <a:pt x="0" y="0"/>
                  </a:moveTo>
                  <a:lnTo>
                    <a:pt x="10241281" y="0"/>
                  </a:lnTo>
                  <a:lnTo>
                    <a:pt x="10241281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7506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275062">
                  <a:moveTo>
                    <a:pt x="16891" y="0"/>
                  </a:moveTo>
                  <a:lnTo>
                    <a:pt x="10258172" y="0"/>
                  </a:lnTo>
                  <a:cubicBezTo>
                    <a:pt x="10267569" y="0"/>
                    <a:pt x="10275062" y="7620"/>
                    <a:pt x="10275062" y="16891"/>
                  </a:cubicBezTo>
                  <a:lnTo>
                    <a:pt x="10275062" y="1041019"/>
                  </a:lnTo>
                  <a:cubicBezTo>
                    <a:pt x="10275062" y="1050417"/>
                    <a:pt x="10267442" y="1057910"/>
                    <a:pt x="10258172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258172" y="1024128"/>
                  </a:lnTo>
                  <a:lnTo>
                    <a:pt x="10258172" y="1041019"/>
                  </a:lnTo>
                  <a:lnTo>
                    <a:pt x="10241280" y="1041019"/>
                  </a:lnTo>
                  <a:lnTo>
                    <a:pt x="10241280" y="16891"/>
                  </a:lnTo>
                  <a:lnTo>
                    <a:pt x="10258172" y="16891"/>
                  </a:lnTo>
                  <a:lnTo>
                    <a:pt x="102581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FCE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75520" y="1499616"/>
            <a:ext cx="7680960" cy="768096"/>
            <a:chOff x="0" y="0"/>
            <a:chExt cx="1024128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241280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6A34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✅  Revamped Design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5167" y="2517391"/>
            <a:ext cx="16837657" cy="1073401"/>
            <a:chOff x="0" y="0"/>
            <a:chExt cx="22450209" cy="14312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2670048"/>
            <a:ext cx="6949440" cy="768096"/>
            <a:chOff x="0" y="0"/>
            <a:chExt cx="926592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Cluttered homepage, no hierarchy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0" y="2670048"/>
            <a:ext cx="1463040" cy="768096"/>
            <a:chOff x="0" y="0"/>
            <a:chExt cx="195072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50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59" t="0" r="-1735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9507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92640" y="2670048"/>
            <a:ext cx="7498080" cy="768096"/>
            <a:chOff x="0" y="0"/>
            <a:chExt cx="9997440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580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layout with clear visual flow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25167" y="3706111"/>
            <a:ext cx="16837657" cy="1073401"/>
            <a:chOff x="0" y="0"/>
            <a:chExt cx="22450209" cy="143120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7280" y="3858768"/>
            <a:ext cx="6949440" cy="768096"/>
            <a:chOff x="0" y="0"/>
            <a:chExt cx="9265920" cy="10241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Inconsistent fonts, colors, spacing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0" y="3858768"/>
            <a:ext cx="1463040" cy="768096"/>
            <a:chOff x="0" y="0"/>
            <a:chExt cx="195072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50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59" t="0" r="-1735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9507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92640" y="3858768"/>
            <a:ext cx="7498080" cy="768096"/>
            <a:chOff x="0" y="0"/>
            <a:chExt cx="9997440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580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Unified design system throughout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25167" y="4894831"/>
            <a:ext cx="16837657" cy="1073401"/>
            <a:chOff x="0" y="0"/>
            <a:chExt cx="22450209" cy="14312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97280" y="5047488"/>
            <a:ext cx="6949440" cy="768096"/>
            <a:chOff x="0" y="0"/>
            <a:chExt cx="926592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Basic search, no filter sidebar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0" y="5047488"/>
            <a:ext cx="1463040" cy="768096"/>
            <a:chOff x="0" y="0"/>
            <a:chExt cx="195072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50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59" t="0" r="-1735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9507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92640" y="5047488"/>
            <a:ext cx="7498080" cy="768096"/>
            <a:chOff x="0" y="0"/>
            <a:chExt cx="999744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580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search + multi-filter panel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25167" y="6083551"/>
            <a:ext cx="16837657" cy="1073401"/>
            <a:chOff x="0" y="0"/>
            <a:chExt cx="22450209" cy="143120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97280" y="6236208"/>
            <a:ext cx="6949440" cy="768096"/>
            <a:chOff x="0" y="0"/>
            <a:chExt cx="9265920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Confusing mega-menu navigation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0" y="6236208"/>
            <a:ext cx="1463040" cy="768096"/>
            <a:chOff x="0" y="0"/>
            <a:chExt cx="195072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50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59" t="0" r="-17359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19507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92640" y="6236208"/>
            <a:ext cx="7498080" cy="768096"/>
            <a:chOff x="0" y="0"/>
            <a:chExt cx="9997440" cy="102412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580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Sticky navbar + icon category strip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25167" y="7272271"/>
            <a:ext cx="16837657" cy="1073401"/>
            <a:chOff x="0" y="0"/>
            <a:chExt cx="22450209" cy="143120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9FAFB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97280" y="7424928"/>
            <a:ext cx="6949440" cy="768096"/>
            <a:chOff x="0" y="0"/>
            <a:chExt cx="9265920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Weak PDP, unclear CTAs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0" y="7424928"/>
            <a:ext cx="1463040" cy="768096"/>
            <a:chOff x="0" y="0"/>
            <a:chExt cx="195072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950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59" t="0" r="-17359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19507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92640" y="7424928"/>
            <a:ext cx="7498080" cy="768096"/>
            <a:chOff x="0" y="0"/>
            <a:chExt cx="999744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580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Trust-first PDP with bold CTAs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25167" y="8460991"/>
            <a:ext cx="16837657" cy="1073401"/>
            <a:chOff x="0" y="0"/>
            <a:chExt cx="22450209" cy="143120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8509" y="8509"/>
              <a:ext cx="22433281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1414272"/>
                  </a:lnTo>
                  <a:lnTo>
                    <a:pt x="0" y="141427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450298" cy="1431290"/>
            </a:xfrm>
            <a:custGeom>
              <a:avLst/>
              <a:gdLst/>
              <a:ahLst/>
              <a:cxnLst/>
              <a:rect r="r" b="b" t="t" l="l"/>
              <a:pathLst>
                <a:path h="1431290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1422781"/>
                  </a:lnTo>
                  <a:cubicBezTo>
                    <a:pt x="22450298" y="1427480"/>
                    <a:pt x="22446489" y="1431290"/>
                    <a:pt x="22441790" y="1431290"/>
                  </a:cubicBezTo>
                  <a:lnTo>
                    <a:pt x="8509" y="1431290"/>
                  </a:lnTo>
                  <a:cubicBezTo>
                    <a:pt x="3810" y="1431290"/>
                    <a:pt x="0" y="1427480"/>
                    <a:pt x="0" y="142278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422781"/>
                  </a:lnTo>
                  <a:lnTo>
                    <a:pt x="8509" y="1422781"/>
                  </a:lnTo>
                  <a:lnTo>
                    <a:pt x="8509" y="1414272"/>
                  </a:lnTo>
                  <a:lnTo>
                    <a:pt x="22441790" y="1414272"/>
                  </a:lnTo>
                  <a:lnTo>
                    <a:pt x="22441790" y="1422781"/>
                  </a:lnTo>
                  <a:lnTo>
                    <a:pt x="22433280" y="1422781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97280" y="8613648"/>
            <a:ext cx="6949440" cy="768096"/>
            <a:chOff x="0" y="0"/>
            <a:chExt cx="9265920" cy="10241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265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293" r="0" b="-12629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26592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991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mobile-optimised design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0" y="8613648"/>
            <a:ext cx="1463040" cy="768096"/>
            <a:chOff x="0" y="0"/>
            <a:chExt cx="1950720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9507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359" t="0" r="-17359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195072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692640" y="8613648"/>
            <a:ext cx="7498080" cy="768096"/>
            <a:chOff x="0" y="0"/>
            <a:chExt cx="9997440" cy="102412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974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0211" r="0" b="-14021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999744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580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responsive, thumb-friendly UI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12697"/>
            <a:ext cx="6426203" cy="10312403"/>
            <a:chOff x="0" y="0"/>
            <a:chExt cx="85682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6818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3732890"/>
                  </a:lnTo>
                  <a:cubicBezTo>
                    <a:pt x="8568182" y="13742290"/>
                    <a:pt x="8560562" y="13749782"/>
                    <a:pt x="855129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551291" y="13716000"/>
                  </a:lnTo>
                  <a:lnTo>
                    <a:pt x="8551291" y="13732890"/>
                  </a:lnTo>
                  <a:lnTo>
                    <a:pt x="8534400" y="13732890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1097280"/>
            <a:ext cx="10424160" cy="1371600"/>
            <a:chOff x="0" y="0"/>
            <a:chExt cx="1389888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98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38988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743200"/>
            <a:ext cx="10424160" cy="2743200"/>
            <a:chOff x="0" y="0"/>
            <a:chExt cx="1389888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988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3898880">
                  <a:moveTo>
                    <a:pt x="0" y="0"/>
                  </a:moveTo>
                  <a:lnTo>
                    <a:pt x="13898880" y="0"/>
                  </a:lnTo>
                  <a:lnTo>
                    <a:pt x="138988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389888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revamp addresses Snapdeal's core usability gaps by applying proven UX principles — visual hierarchy, consistency, and trust design. The redesigned prototypes demonstrate a modern, clean, and conversion-focused experience that can help Snapdeal better compete in India's hyper-competitive e-commerce market.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5839463"/>
            <a:ext cx="135131" cy="574043"/>
            <a:chOff x="0" y="0"/>
            <a:chExt cx="180175" cy="765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46304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086" cy="765304"/>
            </a:xfrm>
            <a:custGeom>
              <a:avLst/>
              <a:gdLst/>
              <a:ahLst/>
              <a:cxnLst/>
              <a:rect r="r" b="b" t="t" l="l"/>
              <a:pathLst>
                <a:path h="76530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748411"/>
                  </a:lnTo>
                  <a:cubicBezTo>
                    <a:pt x="180086" y="757809"/>
                    <a:pt x="172466" y="765302"/>
                    <a:pt x="163195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63195" y="731520"/>
                  </a:lnTo>
                  <a:lnTo>
                    <a:pt x="163195" y="748411"/>
                  </a:lnTo>
                  <a:lnTo>
                    <a:pt x="146304" y="748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6736" y="5815584"/>
            <a:ext cx="10058400" cy="640080"/>
            <a:chOff x="0" y="0"/>
            <a:chExt cx="1341120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411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F6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critical usability problems identified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6698999"/>
            <a:ext cx="135131" cy="574043"/>
            <a:chOff x="0" y="0"/>
            <a:chExt cx="180175" cy="765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46304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086" cy="765304"/>
            </a:xfrm>
            <a:custGeom>
              <a:avLst/>
              <a:gdLst/>
              <a:ahLst/>
              <a:cxnLst/>
              <a:rect r="r" b="b" t="t" l="l"/>
              <a:pathLst>
                <a:path h="76530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748411"/>
                  </a:lnTo>
                  <a:cubicBezTo>
                    <a:pt x="180086" y="757809"/>
                    <a:pt x="172466" y="765302"/>
                    <a:pt x="163195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63195" y="731520"/>
                  </a:lnTo>
                  <a:lnTo>
                    <a:pt x="163195" y="748411"/>
                  </a:lnTo>
                  <a:lnTo>
                    <a:pt x="146304" y="748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16736" y="6675120"/>
            <a:ext cx="10058400" cy="640080"/>
            <a:chOff x="0" y="0"/>
            <a:chExt cx="1341120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411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F6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UX-principle-backed improvements proposed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01703" y="7558535"/>
            <a:ext cx="135131" cy="574043"/>
            <a:chOff x="0" y="0"/>
            <a:chExt cx="180175" cy="765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46304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086" cy="765304"/>
            </a:xfrm>
            <a:custGeom>
              <a:avLst/>
              <a:gdLst/>
              <a:ahLst/>
              <a:cxnLst/>
              <a:rect r="r" b="b" t="t" l="l"/>
              <a:pathLst>
                <a:path h="76530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748411"/>
                  </a:lnTo>
                  <a:cubicBezTo>
                    <a:pt x="180086" y="757809"/>
                    <a:pt x="172466" y="765302"/>
                    <a:pt x="163195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63195" y="731520"/>
                  </a:lnTo>
                  <a:lnTo>
                    <a:pt x="163195" y="748411"/>
                  </a:lnTo>
                  <a:lnTo>
                    <a:pt x="146304" y="748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16736" y="7534656"/>
            <a:ext cx="10058400" cy="640080"/>
            <a:chOff x="0" y="0"/>
            <a:chExt cx="1341120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411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F6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interactive HTML prototypes created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8418071"/>
            <a:ext cx="135131" cy="574043"/>
            <a:chOff x="0" y="0"/>
            <a:chExt cx="180175" cy="7653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8344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765304"/>
            </a:xfrm>
            <a:custGeom>
              <a:avLst/>
              <a:gdLst/>
              <a:ahLst/>
              <a:cxnLst/>
              <a:rect r="r" b="b" t="t" l="l"/>
              <a:pathLst>
                <a:path h="765304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748411"/>
                  </a:lnTo>
                  <a:cubicBezTo>
                    <a:pt x="180086" y="757809"/>
                    <a:pt x="172466" y="765302"/>
                    <a:pt x="163195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63195" y="731520"/>
                  </a:lnTo>
                  <a:lnTo>
                    <a:pt x="163195" y="748411"/>
                  </a:lnTo>
                  <a:lnTo>
                    <a:pt x="146304" y="748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344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16736" y="8394192"/>
            <a:ext cx="10058400" cy="640080"/>
            <a:chOff x="0" y="0"/>
            <a:chExt cx="1341120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0" cy="853440"/>
            </a:xfrm>
            <a:custGeom>
              <a:avLst/>
              <a:gdLst/>
              <a:ahLst/>
              <a:cxnLst/>
              <a:rect r="r" b="b" t="t" l="l"/>
              <a:pathLst>
                <a:path h="85344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112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CF6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user journey: Home → Search → PDP → Cart → Checkout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19828" y="3859271"/>
            <a:ext cx="5648344" cy="2568457"/>
            <a:chOff x="0" y="0"/>
            <a:chExt cx="7096862" cy="3227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96863" cy="3227138"/>
            </a:xfrm>
            <a:custGeom>
              <a:avLst/>
              <a:gdLst/>
              <a:ahLst/>
              <a:cxnLst/>
              <a:rect r="r" b="b" t="t" l="l"/>
              <a:pathLst>
                <a:path h="3227138" w="7096863">
                  <a:moveTo>
                    <a:pt x="0" y="0"/>
                  </a:moveTo>
                  <a:lnTo>
                    <a:pt x="7096863" y="0"/>
                  </a:lnTo>
                  <a:lnTo>
                    <a:pt x="7096863" y="3227138"/>
                  </a:lnTo>
                  <a:lnTo>
                    <a:pt x="0" y="3227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42" t="0" r="-16691" b="-578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7096862" cy="32461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240"/>
                </a:lnSpc>
              </a:pPr>
              <a:r>
                <a:rPr lang="en-US" sz="77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858000"/>
            <a:ext cx="4587856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: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Tanvi Dave 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Shubhangni Chawla 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Kavya Gajjar 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Akanksha Rajpurohit</a:t>
            </a:r>
          </a:p>
          <a:p>
            <a:pPr algn="l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Pari Rangrej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50914" y="489075"/>
            <a:ext cx="11594301" cy="2840725"/>
            <a:chOff x="0" y="0"/>
            <a:chExt cx="1643308" cy="4026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3308" cy="402628"/>
            </a:xfrm>
            <a:custGeom>
              <a:avLst/>
              <a:gdLst/>
              <a:ahLst/>
              <a:cxnLst/>
              <a:rect r="r" b="b" t="t" l="l"/>
              <a:pathLst>
                <a:path h="402628" w="1643308">
                  <a:moveTo>
                    <a:pt x="0" y="0"/>
                  </a:moveTo>
                  <a:lnTo>
                    <a:pt x="1643308" y="0"/>
                  </a:lnTo>
                  <a:lnTo>
                    <a:pt x="1643308" y="402628"/>
                  </a:lnTo>
                  <a:lnTo>
                    <a:pt x="0" y="402628"/>
                  </a:lnTo>
                  <a:close/>
                </a:path>
              </a:pathLst>
            </a:custGeom>
            <a:blipFill>
              <a:blip r:embed="rId3"/>
              <a:stretch>
                <a:fillRect l="0" t="-5160" r="0" b="-516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DAHHYN_Gmj8</dc:identifier>
  <dcterms:modified xsi:type="dcterms:W3CDTF">2011-08-01T06:04:30Z</dcterms:modified>
  <cp:revision>1</cp:revision>
  <dc:title>Submitted To: Prof. Anukreeti Chaudhary Subject: UI/UX</dc:title>
</cp:coreProperties>
</file>